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erif Display" charset="1" panose="000000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  <p:embeddedFont>
      <p:font typeface="Inter Bold" charset="1" panose="02000503000000020004"/>
      <p:regular r:id="rId15"/>
    </p:embeddedFont>
    <p:embeddedFont>
      <p:font typeface="Inter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01845" y="1966910"/>
            <a:ext cx="11484311" cy="317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sz="604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Take Home Ass</a:t>
            </a:r>
            <a:r>
              <a:rPr lang="en-US" sz="604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ignment Submission</a:t>
            </a:r>
          </a:p>
          <a:p>
            <a:pPr algn="ctr">
              <a:lnSpc>
                <a:spcPts val="8465"/>
              </a:lnSpc>
            </a:pPr>
            <a:r>
              <a:rPr lang="en-US" sz="604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(Rapido Data Science Intern)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88255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APTAIN ACQUISITION &amp; AIRPORT SUPPLY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11655" y="6363088"/>
            <a:ext cx="346468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Abhay S Kulkarni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174577" y="704532"/>
            <a:ext cx="3653728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b="true" sz="27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pt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ain 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acq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uisiti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66672" y="650576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13140" y="73693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4577" y="3414709"/>
            <a:ext cx="3374080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b="true" sz="27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rowt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ca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mp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66672" y="3283897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13140" y="337248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4577" y="6715760"/>
            <a:ext cx="2595060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b="true" sz="27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Airport Supply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6672" y="6617651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66672" y="670623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Executive Summary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7887529" y="1271925"/>
            <a:ext cx="11284132" cy="171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RC verific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 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rgest onboarding bott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eneck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5,489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ptai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 bet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een DL 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RC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ty 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OCR 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are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 la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 RC fai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Priority: reduce onboarding friction before increasing acquisition volume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7529" y="4027805"/>
            <a:ext cx="10113423" cy="215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CAMP_WA_002 shows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dete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ctable app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ov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lift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paign expo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is observational and many messages were se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after approval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5× scaling 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supported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by the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urrent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dence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 step: randomized holdout experiment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76631" y="7451409"/>
            <a:ext cx="9386518" cy="215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Airport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nals account for 55,058 unfulfilled requests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is ~85.6% of all unfulfilled requests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Shortage 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heavily co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centrated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rnight,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especial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21:00–03:00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iority: test ta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rgeted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overnight sup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ply/economics int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9502" y="5057775"/>
            <a:ext cx="5615877" cy="141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4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ix RC friction →  Test targeted airport supply </a:t>
            </a:r>
            <a:r>
              <a:rPr lang="en-US" sz="24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Requir</a:t>
            </a:r>
            <a:r>
              <a:rPr lang="en-US" sz="24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cau</a:t>
            </a:r>
            <a:r>
              <a:rPr lang="en-US" sz="24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sal</a:t>
            </a:r>
            <a:r>
              <a:rPr lang="en-US" sz="24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evidence before scaling campaigns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8381629" y="2141996"/>
            <a:ext cx="1000064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901611" y="209259"/>
            <a:ext cx="7607532" cy="183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73"/>
              </a:lnSpc>
            </a:pPr>
            <a:r>
              <a:rPr lang="en-US" b="true" sz="4972" spc="-203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RC Diagnosis </a:t>
            </a:r>
            <a:r>
              <a:rPr lang="en-US" sz="4972" spc="-203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- RC</a:t>
            </a:r>
            <a:r>
              <a:rPr lang="en-US" sz="4972" spc="-203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 Drop off Is Concentrated in Fixable Document-Quality Friction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7519" y="3491656"/>
            <a:ext cx="2097568" cy="1491495"/>
            <a:chOff x="0" y="0"/>
            <a:chExt cx="661348" cy="4702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ADA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69433" y="3909176"/>
            <a:ext cx="1533740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Signup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35402" y="3491656"/>
            <a:ext cx="2097568" cy="1491495"/>
            <a:chOff x="0" y="0"/>
            <a:chExt cx="661348" cy="4702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ADAD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96525" y="3490286"/>
            <a:ext cx="2097568" cy="1491495"/>
            <a:chOff x="0" y="0"/>
            <a:chExt cx="661348" cy="4702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ADAD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02120" y="3485526"/>
            <a:ext cx="2097568" cy="1491495"/>
            <a:chOff x="0" y="0"/>
            <a:chExt cx="661348" cy="4702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CDCD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9352" y="6090436"/>
            <a:ext cx="2097568" cy="1491495"/>
            <a:chOff x="0" y="0"/>
            <a:chExt cx="661348" cy="4702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CDCD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57924" y="6079567"/>
            <a:ext cx="2097568" cy="1491495"/>
            <a:chOff x="0" y="0"/>
            <a:chExt cx="661348" cy="4702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DCDCD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41989" y="6118893"/>
            <a:ext cx="2097568" cy="1491495"/>
            <a:chOff x="0" y="0"/>
            <a:chExt cx="661348" cy="4702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E2E0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02120" y="6118893"/>
            <a:ext cx="2097568" cy="1491495"/>
            <a:chOff x="0" y="0"/>
            <a:chExt cx="661348" cy="4702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1348" cy="470257"/>
            </a:xfrm>
            <a:custGeom>
              <a:avLst/>
              <a:gdLst/>
              <a:ahLst/>
              <a:cxnLst/>
              <a:rect r="r" b="b" t="t" l="l"/>
              <a:pathLst>
                <a:path h="470257" w="661348">
                  <a:moveTo>
                    <a:pt x="103345" y="0"/>
                  </a:moveTo>
                  <a:lnTo>
                    <a:pt x="558002" y="0"/>
                  </a:lnTo>
                  <a:cubicBezTo>
                    <a:pt x="615078" y="0"/>
                    <a:pt x="661348" y="46269"/>
                    <a:pt x="661348" y="103345"/>
                  </a:cubicBezTo>
                  <a:lnTo>
                    <a:pt x="661348" y="366912"/>
                  </a:lnTo>
                  <a:cubicBezTo>
                    <a:pt x="661348" y="423988"/>
                    <a:pt x="615078" y="470257"/>
                    <a:pt x="558002" y="470257"/>
                  </a:cubicBezTo>
                  <a:lnTo>
                    <a:pt x="103345" y="470257"/>
                  </a:lnTo>
                  <a:cubicBezTo>
                    <a:pt x="46269" y="470257"/>
                    <a:pt x="0" y="423988"/>
                    <a:pt x="0" y="366912"/>
                  </a:cubicBezTo>
                  <a:lnTo>
                    <a:pt x="0" y="103345"/>
                  </a:lnTo>
                  <a:cubicBezTo>
                    <a:pt x="0" y="46269"/>
                    <a:pt x="46269" y="0"/>
                    <a:pt x="103345" y="0"/>
                  </a:cubicBezTo>
                  <a:close/>
                </a:path>
              </a:pathLst>
            </a:custGeom>
            <a:solidFill>
              <a:srgbClr val="E2E0E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661348" cy="451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9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356075" y="3913937"/>
            <a:ext cx="752979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15666" y="3861552"/>
            <a:ext cx="683170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50023" y="3821135"/>
            <a:ext cx="1801763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Aadhar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3891" y="6444361"/>
            <a:ext cx="1533740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Permit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81555" y="6487304"/>
            <a:ext cx="1650306" cy="60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18"/>
              </a:lnSpc>
            </a:pPr>
            <a:r>
              <a:rPr lang="en-US" sz="3783" spc="-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Fitness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49279" y="6531804"/>
            <a:ext cx="1998076" cy="54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24"/>
              </a:lnSpc>
            </a:pPr>
            <a:r>
              <a:rPr lang="en-US" sz="3403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Insurance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21195" y="6552032"/>
            <a:ext cx="1610278" cy="4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8"/>
              </a:lnSpc>
            </a:pPr>
            <a:r>
              <a:rPr lang="en-US" sz="3129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Approval</a:t>
            </a:r>
          </a:p>
        </p:txBody>
      </p:sp>
      <p:sp>
        <p:nvSpPr>
          <p:cNvPr name="AutoShape 37" id="37"/>
          <p:cNvSpPr/>
          <p:nvPr/>
        </p:nvSpPr>
        <p:spPr>
          <a:xfrm>
            <a:off x="3285087" y="4237404"/>
            <a:ext cx="2450315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7832970" y="4236034"/>
            <a:ext cx="1663555" cy="137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11585538" y="4231273"/>
            <a:ext cx="2016583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V="true">
            <a:off x="3566919" y="6825314"/>
            <a:ext cx="2191005" cy="10869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flipV="true">
            <a:off x="7833106" y="6864641"/>
            <a:ext cx="2108882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12039556" y="6864641"/>
            <a:ext cx="1562564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4135361" y="3761255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88.5%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64183" y="3830660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72.7%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60103" y="3790243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89.4%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8595" y="6251262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79.7%</a:t>
            </a:r>
          </a:p>
        </p:txBody>
      </p:sp>
      <p:sp>
        <p:nvSpPr>
          <p:cNvPr name="AutoShape 47" id="47"/>
          <p:cNvSpPr/>
          <p:nvPr/>
        </p:nvSpPr>
        <p:spPr>
          <a:xfrm flipV="true">
            <a:off x="518595" y="6785508"/>
            <a:ext cx="876006" cy="0"/>
          </a:xfrm>
          <a:prstGeom prst="line">
            <a:avLst/>
          </a:prstGeom>
          <a:ln cap="flat" w="38100">
            <a:solidFill>
              <a:srgbClr val="2626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8" id="48"/>
          <p:cNvSpPr txBox="true"/>
          <p:nvPr/>
        </p:nvSpPr>
        <p:spPr>
          <a:xfrm rot="0">
            <a:off x="4135361" y="6379122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74.3%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620519" y="6413469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56.9%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60103" y="6334623"/>
            <a:ext cx="876006" cy="35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"/>
              </a:lnSpc>
            </a:pPr>
            <a:r>
              <a:rPr lang="en-US" sz="2160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90.6%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705377" y="8603282"/>
            <a:ext cx="4685880" cy="76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3062" spc="-125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5,489</a:t>
            </a:r>
          </a:p>
          <a:p>
            <a:pPr algn="ctr" marL="0" indent="0" lvl="0">
              <a:lnSpc>
                <a:spcPts val="2940"/>
              </a:lnSpc>
            </a:pPr>
            <a:r>
              <a:rPr lang="en-US" sz="3062" spc="-125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captains lost at RC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02120" y="8603282"/>
            <a:ext cx="4685880" cy="76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3062" spc="-125">
                <a:solidFill>
                  <a:srgbClr val="262626"/>
                </a:solidFill>
                <a:latin typeface="Inter Bold"/>
                <a:ea typeface="Inter Bold"/>
                <a:cs typeface="Inter Bold"/>
                <a:sym typeface="Inter Bold"/>
              </a:rPr>
              <a:t>17.6%</a:t>
            </a:r>
          </a:p>
          <a:p>
            <a:pPr algn="ctr" marL="0" indent="0" lvl="0">
              <a:lnSpc>
                <a:spcPts val="2940"/>
              </a:lnSpc>
            </a:pPr>
            <a:r>
              <a:rPr lang="en-US" sz="3062" spc="-125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over</a:t>
            </a:r>
            <a:r>
              <a:rPr lang="en-US" sz="3062" spc="-125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all signup -&gt; approval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0036" y="8563566"/>
            <a:ext cx="7460937" cy="75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2"/>
              </a:lnSpc>
            </a:pPr>
            <a:r>
              <a:rPr lang="en-US" sz="2317" spc="-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biggest acquisition opportunity is not more top of funnel volume, it is reducing RC stage friction.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503607" y="2294396"/>
            <a:ext cx="4845071" cy="37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2"/>
              </a:lnSpc>
            </a:pPr>
            <a:r>
              <a:rPr lang="en-US" sz="2317" spc="-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Permit applies to Auto/Cab captains.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20988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Campaign Evaluation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19231" y="1028700"/>
            <a:ext cx="5263569" cy="3794853"/>
            <a:chOff x="0" y="0"/>
            <a:chExt cx="1278617" cy="9218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8617" cy="921839"/>
            </a:xfrm>
            <a:custGeom>
              <a:avLst/>
              <a:gdLst/>
              <a:ahLst/>
              <a:cxnLst/>
              <a:rect r="r" b="b" t="t" l="l"/>
              <a:pathLst>
                <a:path h="921839" w="1278617">
                  <a:moveTo>
                    <a:pt x="80732" y="0"/>
                  </a:moveTo>
                  <a:lnTo>
                    <a:pt x="1197885" y="0"/>
                  </a:lnTo>
                  <a:cubicBezTo>
                    <a:pt x="1219297" y="0"/>
                    <a:pt x="1239831" y="8506"/>
                    <a:pt x="1254971" y="23646"/>
                  </a:cubicBezTo>
                  <a:cubicBezTo>
                    <a:pt x="1270112" y="38786"/>
                    <a:pt x="1278617" y="59321"/>
                    <a:pt x="1278617" y="80732"/>
                  </a:cubicBezTo>
                  <a:lnTo>
                    <a:pt x="1278617" y="841107"/>
                  </a:lnTo>
                  <a:cubicBezTo>
                    <a:pt x="1278617" y="862518"/>
                    <a:pt x="1270112" y="883053"/>
                    <a:pt x="1254971" y="898193"/>
                  </a:cubicBezTo>
                  <a:cubicBezTo>
                    <a:pt x="1239831" y="913333"/>
                    <a:pt x="1219297" y="921839"/>
                    <a:pt x="1197885" y="921839"/>
                  </a:cubicBezTo>
                  <a:lnTo>
                    <a:pt x="80732" y="921839"/>
                  </a:lnTo>
                  <a:cubicBezTo>
                    <a:pt x="59321" y="921839"/>
                    <a:pt x="38786" y="913333"/>
                    <a:pt x="23646" y="898193"/>
                  </a:cubicBezTo>
                  <a:cubicBezTo>
                    <a:pt x="8506" y="883053"/>
                    <a:pt x="0" y="862518"/>
                    <a:pt x="0" y="841107"/>
                  </a:cubicBezTo>
                  <a:lnTo>
                    <a:pt x="0" y="80732"/>
                  </a:lnTo>
                  <a:cubicBezTo>
                    <a:pt x="0" y="59321"/>
                    <a:pt x="8506" y="38786"/>
                    <a:pt x="23646" y="23646"/>
                  </a:cubicBezTo>
                  <a:cubicBezTo>
                    <a:pt x="38786" y="8506"/>
                    <a:pt x="59321" y="0"/>
                    <a:pt x="8073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78617" cy="969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95443" y="1401372"/>
            <a:ext cx="4711145" cy="259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b="true" sz="22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we obse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2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8,673 unique cap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exposed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CAMP_WA_002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8,058 delive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3,569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icked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Exposure was not randomized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119231" y="5463447"/>
            <a:ext cx="5263569" cy="3345981"/>
            <a:chOff x="0" y="0"/>
            <a:chExt cx="127861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8617" cy="812800"/>
            </a:xfrm>
            <a:custGeom>
              <a:avLst/>
              <a:gdLst/>
              <a:ahLst/>
              <a:cxnLst/>
              <a:rect r="r" b="b" t="t" l="l"/>
              <a:pathLst>
                <a:path h="812800" w="1278617">
                  <a:moveTo>
                    <a:pt x="80732" y="0"/>
                  </a:moveTo>
                  <a:lnTo>
                    <a:pt x="1197885" y="0"/>
                  </a:lnTo>
                  <a:cubicBezTo>
                    <a:pt x="1219297" y="0"/>
                    <a:pt x="1239831" y="8506"/>
                    <a:pt x="1254971" y="23646"/>
                  </a:cubicBezTo>
                  <a:cubicBezTo>
                    <a:pt x="1270112" y="38786"/>
                    <a:pt x="1278617" y="59321"/>
                    <a:pt x="1278617" y="80732"/>
                  </a:cubicBezTo>
                  <a:lnTo>
                    <a:pt x="1278617" y="732068"/>
                  </a:lnTo>
                  <a:cubicBezTo>
                    <a:pt x="1278617" y="753479"/>
                    <a:pt x="1270112" y="774014"/>
                    <a:pt x="1254971" y="789154"/>
                  </a:cubicBezTo>
                  <a:cubicBezTo>
                    <a:pt x="1239831" y="804294"/>
                    <a:pt x="1219297" y="812800"/>
                    <a:pt x="1197885" y="812800"/>
                  </a:cubicBezTo>
                  <a:lnTo>
                    <a:pt x="80732" y="812800"/>
                  </a:lnTo>
                  <a:cubicBezTo>
                    <a:pt x="59321" y="812800"/>
                    <a:pt x="38786" y="804294"/>
                    <a:pt x="23646" y="789154"/>
                  </a:cubicBezTo>
                  <a:cubicBezTo>
                    <a:pt x="8506" y="774014"/>
                    <a:pt x="0" y="753479"/>
                    <a:pt x="0" y="732068"/>
                  </a:cubicBezTo>
                  <a:lnTo>
                    <a:pt x="0" y="80732"/>
                  </a:lnTo>
                  <a:cubicBezTo>
                    <a:pt x="0" y="59321"/>
                    <a:pt x="8506" y="38786"/>
                    <a:pt x="23646" y="23646"/>
                  </a:cubicBezTo>
                  <a:cubicBezTo>
                    <a:pt x="38786" y="8506"/>
                    <a:pt x="59321" y="0"/>
                    <a:pt x="8073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78617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189047" y="5582593"/>
            <a:ext cx="5123937" cy="303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Approval comparison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Observed approv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rates are very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Exposure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does not show a detectable 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roval lif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</a:p>
          <a:p>
            <a:pPr algn="l" marL="474983" indent="-237491" lvl="1">
              <a:lnSpc>
                <a:spcPts val="352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Confidence interval for the difference spans zero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766206" y="1028700"/>
            <a:ext cx="5902766" cy="3794853"/>
            <a:chOff x="0" y="0"/>
            <a:chExt cx="1433890" cy="921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3890" cy="921839"/>
            </a:xfrm>
            <a:custGeom>
              <a:avLst/>
              <a:gdLst/>
              <a:ahLst/>
              <a:cxnLst/>
              <a:rect r="r" b="b" t="t" l="l"/>
              <a:pathLst>
                <a:path h="921839" w="1433890">
                  <a:moveTo>
                    <a:pt x="71990" y="0"/>
                  </a:moveTo>
                  <a:lnTo>
                    <a:pt x="1361900" y="0"/>
                  </a:lnTo>
                  <a:cubicBezTo>
                    <a:pt x="1401659" y="0"/>
                    <a:pt x="1433890" y="32231"/>
                    <a:pt x="1433890" y="71990"/>
                  </a:cubicBezTo>
                  <a:lnTo>
                    <a:pt x="1433890" y="849849"/>
                  </a:lnTo>
                  <a:cubicBezTo>
                    <a:pt x="1433890" y="889608"/>
                    <a:pt x="1401659" y="921839"/>
                    <a:pt x="1361900" y="921839"/>
                  </a:cubicBezTo>
                  <a:lnTo>
                    <a:pt x="71990" y="921839"/>
                  </a:lnTo>
                  <a:cubicBezTo>
                    <a:pt x="32231" y="921839"/>
                    <a:pt x="0" y="889608"/>
                    <a:pt x="0" y="849849"/>
                  </a:cubicBezTo>
                  <a:lnTo>
                    <a:pt x="0" y="71990"/>
                  </a:lnTo>
                  <a:cubicBezTo>
                    <a:pt x="0" y="32231"/>
                    <a:pt x="32231" y="0"/>
                    <a:pt x="7199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33890" cy="969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766206" y="1153207"/>
            <a:ext cx="5706267" cy="346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timing issue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2,727 c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ampaign messages were sent before approval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5,946 were sent after the captain's decision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Therefore, campaign exposure is not cleanly measuring an acquisition effect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65955" y="5463447"/>
            <a:ext cx="5143720" cy="3345981"/>
            <a:chOff x="0" y="0"/>
            <a:chExt cx="1249504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9504" cy="812800"/>
            </a:xfrm>
            <a:custGeom>
              <a:avLst/>
              <a:gdLst/>
              <a:ahLst/>
              <a:cxnLst/>
              <a:rect r="r" b="b" t="t" l="l"/>
              <a:pathLst>
                <a:path h="812800" w="1249504">
                  <a:moveTo>
                    <a:pt x="82613" y="0"/>
                  </a:moveTo>
                  <a:lnTo>
                    <a:pt x="1166890" y="0"/>
                  </a:lnTo>
                  <a:cubicBezTo>
                    <a:pt x="1212516" y="0"/>
                    <a:pt x="1249504" y="36987"/>
                    <a:pt x="1249504" y="82613"/>
                  </a:cubicBezTo>
                  <a:lnTo>
                    <a:pt x="1249504" y="730187"/>
                  </a:lnTo>
                  <a:cubicBezTo>
                    <a:pt x="1249504" y="775813"/>
                    <a:pt x="1212516" y="812800"/>
                    <a:pt x="1166890" y="812800"/>
                  </a:cubicBezTo>
                  <a:lnTo>
                    <a:pt x="82613" y="812800"/>
                  </a:lnTo>
                  <a:cubicBezTo>
                    <a:pt x="36987" y="812800"/>
                    <a:pt x="0" y="775813"/>
                    <a:pt x="0" y="730187"/>
                  </a:cubicBezTo>
                  <a:lnTo>
                    <a:pt x="0" y="82613"/>
                  </a:lnTo>
                  <a:cubicBezTo>
                    <a:pt x="0" y="36987"/>
                    <a:pt x="36987" y="0"/>
                    <a:pt x="8261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49504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36642" y="6130598"/>
            <a:ext cx="3965394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24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Decision</a:t>
            </a:r>
          </a:p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 not scale the campaign 5× based 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current evidence.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4086" y="3874986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P_WA_002 Do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Jus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5×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089353" y="2140838"/>
            <a:ext cx="6624545" cy="2569645"/>
            <a:chOff x="0" y="0"/>
            <a:chExt cx="5917226" cy="2295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7226" cy="2295278"/>
            </a:xfrm>
            <a:custGeom>
              <a:avLst/>
              <a:gdLst/>
              <a:ahLst/>
              <a:cxnLst/>
              <a:rect r="r" b="b" t="t" l="l"/>
              <a:pathLst>
                <a:path h="2295278" w="5917226">
                  <a:moveTo>
                    <a:pt x="17445" y="0"/>
                  </a:moveTo>
                  <a:lnTo>
                    <a:pt x="5899781" y="0"/>
                  </a:lnTo>
                  <a:cubicBezTo>
                    <a:pt x="5909416" y="0"/>
                    <a:pt x="5917226" y="7810"/>
                    <a:pt x="5917226" y="17445"/>
                  </a:cubicBezTo>
                  <a:lnTo>
                    <a:pt x="5917226" y="2277833"/>
                  </a:lnTo>
                  <a:cubicBezTo>
                    <a:pt x="5917226" y="2287467"/>
                    <a:pt x="5909416" y="2295278"/>
                    <a:pt x="5899781" y="2295278"/>
                  </a:cubicBezTo>
                  <a:lnTo>
                    <a:pt x="17445" y="2295278"/>
                  </a:lnTo>
                  <a:cubicBezTo>
                    <a:pt x="7810" y="2295278"/>
                    <a:pt x="0" y="2287467"/>
                    <a:pt x="0" y="2277833"/>
                  </a:cubicBezTo>
                  <a:lnTo>
                    <a:pt x="0" y="17445"/>
                  </a:lnTo>
                  <a:cubicBezTo>
                    <a:pt x="0" y="7810"/>
                    <a:pt x="7810" y="0"/>
                    <a:pt x="1744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917226" cy="2342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-92193" y="1689464"/>
            <a:ext cx="183801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875999" y="2060939"/>
            <a:ext cx="7363616" cy="3648288"/>
            <a:chOff x="0" y="0"/>
            <a:chExt cx="6577385" cy="3258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77385" cy="3258751"/>
            </a:xfrm>
            <a:custGeom>
              <a:avLst/>
              <a:gdLst/>
              <a:ahLst/>
              <a:cxnLst/>
              <a:rect r="r" b="b" t="t" l="l"/>
              <a:pathLst>
                <a:path h="3258751" w="6577385">
                  <a:moveTo>
                    <a:pt x="15694" y="0"/>
                  </a:moveTo>
                  <a:lnTo>
                    <a:pt x="6561690" y="0"/>
                  </a:lnTo>
                  <a:cubicBezTo>
                    <a:pt x="6565853" y="0"/>
                    <a:pt x="6569845" y="1653"/>
                    <a:pt x="6572788" y="4597"/>
                  </a:cubicBezTo>
                  <a:cubicBezTo>
                    <a:pt x="6575731" y="7540"/>
                    <a:pt x="6577385" y="11532"/>
                    <a:pt x="6577385" y="15694"/>
                  </a:cubicBezTo>
                  <a:lnTo>
                    <a:pt x="6577385" y="3243057"/>
                  </a:lnTo>
                  <a:cubicBezTo>
                    <a:pt x="6577385" y="3251725"/>
                    <a:pt x="6570358" y="3258751"/>
                    <a:pt x="6561690" y="3258751"/>
                  </a:cubicBezTo>
                  <a:lnTo>
                    <a:pt x="15694" y="3258751"/>
                  </a:lnTo>
                  <a:cubicBezTo>
                    <a:pt x="7026" y="3258751"/>
                    <a:pt x="0" y="3251725"/>
                    <a:pt x="0" y="3243057"/>
                  </a:cubicBezTo>
                  <a:lnTo>
                    <a:pt x="0" y="15694"/>
                  </a:lnTo>
                  <a:cubicBezTo>
                    <a:pt x="0" y="7026"/>
                    <a:pt x="7026" y="0"/>
                    <a:pt x="1569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577385" cy="330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49403" y="5290678"/>
            <a:ext cx="6664495" cy="4418289"/>
            <a:chOff x="0" y="0"/>
            <a:chExt cx="5952911" cy="3946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52911" cy="3946538"/>
            </a:xfrm>
            <a:custGeom>
              <a:avLst/>
              <a:gdLst/>
              <a:ahLst/>
              <a:cxnLst/>
              <a:rect r="r" b="b" t="t" l="l"/>
              <a:pathLst>
                <a:path h="3946538" w="5952911">
                  <a:moveTo>
                    <a:pt x="17340" y="0"/>
                  </a:moveTo>
                  <a:lnTo>
                    <a:pt x="5935570" y="0"/>
                  </a:lnTo>
                  <a:cubicBezTo>
                    <a:pt x="5945147" y="0"/>
                    <a:pt x="5952911" y="7764"/>
                    <a:pt x="5952911" y="17340"/>
                  </a:cubicBezTo>
                  <a:lnTo>
                    <a:pt x="5952911" y="3929198"/>
                  </a:lnTo>
                  <a:cubicBezTo>
                    <a:pt x="5952911" y="3938775"/>
                    <a:pt x="5945147" y="3946538"/>
                    <a:pt x="5935570" y="3946538"/>
                  </a:cubicBezTo>
                  <a:lnTo>
                    <a:pt x="17340" y="3946538"/>
                  </a:lnTo>
                  <a:cubicBezTo>
                    <a:pt x="7764" y="3946538"/>
                    <a:pt x="0" y="3938775"/>
                    <a:pt x="0" y="3929198"/>
                  </a:cubicBezTo>
                  <a:lnTo>
                    <a:pt x="0" y="17340"/>
                  </a:lnTo>
                  <a:cubicBezTo>
                    <a:pt x="0" y="7764"/>
                    <a:pt x="7764" y="0"/>
                    <a:pt x="1734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952911" cy="3994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243234" y="2309966"/>
            <a:ext cx="4276833" cy="215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200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Overall marketplace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457,610 requests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393,269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lfi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64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341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un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fulfille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</a:p>
          <a:p>
            <a:pPr algn="l" marL="474983" indent="-237491" lvl="1">
              <a:lnSpc>
                <a:spcPts val="3520"/>
              </a:lnSpc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Ov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rall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fulfillme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2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85.9%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64100" y="2055113"/>
            <a:ext cx="7974558" cy="391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</a:pPr>
            <a:r>
              <a:rPr lang="en-US" b="true" sz="21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Airport terminal</a:t>
            </a:r>
            <a:r>
              <a:rPr lang="en-US" b="true" sz="21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concentrat</a:t>
            </a:r>
            <a:r>
              <a:rPr lang="en-US" b="true" sz="2199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ion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T1 +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T2 generated 55,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058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nfulfilled requests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~85.6% of al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marke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tplace unfulfilled requests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Terminal fulfillment 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pressu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e: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Unfulf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rate: ~40%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Online captains: ~30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ETA: ~5.75 min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Surge: ~1.41</a:t>
            </a:r>
          </a:p>
          <a:p>
            <a:pPr algn="l" marL="0" indent="0" lvl="0">
              <a:lnSpc>
                <a:spcPts val="351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20026" y="5313435"/>
            <a:ext cx="6655332" cy="428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2421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Worst time window</a:t>
            </a:r>
          </a:p>
          <a:p>
            <a:pPr algn="l">
              <a:lnSpc>
                <a:spcPts val="3874"/>
              </a:lnSpc>
            </a:pPr>
            <a:r>
              <a:rPr lang="en-US" sz="24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21:00 - 03:00</a:t>
            </a:r>
          </a:p>
          <a:p>
            <a:pPr algn="l" marL="522851" indent="-261425" lvl="1">
              <a:lnSpc>
                <a:spcPts val="3874"/>
              </a:lnSpc>
              <a:buFont typeface="Arial"/>
              <a:buChar char="•"/>
            </a:pPr>
            <a:r>
              <a:rPr lang="en-US" sz="24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37,875 </a:t>
            </a:r>
            <a:r>
              <a:rPr lang="en-US" sz="24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unfulfi</a:t>
            </a: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lled requests</a:t>
            </a:r>
          </a:p>
          <a:p>
            <a:pPr algn="l" marL="522851" indent="-261425" lvl="1">
              <a:lnSpc>
                <a:spcPts val="3874"/>
              </a:lnSpc>
              <a:buFont typeface="Arial"/>
              <a:buChar char="•"/>
            </a:pP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Unfulfi</a:t>
            </a: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rate peaks around:</a:t>
            </a:r>
          </a:p>
          <a:p>
            <a:pPr algn="l" marL="1045702" indent="-348567" lvl="2">
              <a:lnSpc>
                <a:spcPts val="3874"/>
              </a:lnSpc>
              <a:buFont typeface="Arial"/>
              <a:buChar char="⚬"/>
            </a:pP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22:00 → 71.9%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23:00 → 73.8%</a:t>
            </a:r>
          </a:p>
          <a:p>
            <a:pPr algn="l" marL="1045702" indent="-348567" lvl="2">
              <a:lnSpc>
                <a:spcPts val="3874"/>
              </a:lnSpc>
              <a:buFont typeface="Arial"/>
              <a:buChar char="⚬"/>
            </a:pP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00:00 → 67.9%</a:t>
            </a:r>
          </a:p>
          <a:p>
            <a:pPr algn="l" marL="1045702" indent="-348567" lvl="2">
              <a:lnSpc>
                <a:spcPts val="3874"/>
              </a:lnSpc>
              <a:buFont typeface="Arial"/>
              <a:buChar char="⚬"/>
            </a:pP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01:00 → 72.2%</a:t>
            </a:r>
          </a:p>
          <a:p>
            <a:pPr algn="l" marL="1045702" indent="-348567" lvl="2">
              <a:lnSpc>
                <a:spcPts val="3874"/>
              </a:lnSpc>
              <a:buFont typeface="Arial"/>
              <a:buChar char="⚬"/>
            </a:pPr>
            <a:r>
              <a:rPr lang="en-US" sz="242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02:00 → 67.7%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3084" y="-33863"/>
            <a:ext cx="13025830" cy="131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9"/>
              </a:lnSpc>
            </a:pPr>
            <a:r>
              <a:rPr lang="en-US" b="true" sz="3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39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39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rp</a:t>
            </a:r>
            <a:r>
              <a:rPr lang="en-US" b="true" sz="39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 Sup</a:t>
            </a:r>
            <a:r>
              <a:rPr lang="en-US" b="true" sz="39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ply</a:t>
            </a:r>
          </a:p>
          <a:p>
            <a:pPr algn="ctr" marL="0" indent="0" lvl="0">
              <a:lnSpc>
                <a:spcPts val="4160"/>
              </a:lnSpc>
            </a:pPr>
            <a:r>
              <a:rPr lang="en-US" sz="26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Airport Supply Shortage Is Highly Concentrated Overnight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64100" y="6060679"/>
            <a:ext cx="7363616" cy="3648288"/>
            <a:chOff x="0" y="0"/>
            <a:chExt cx="6577385" cy="3258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77385" cy="3258751"/>
            </a:xfrm>
            <a:custGeom>
              <a:avLst/>
              <a:gdLst/>
              <a:ahLst/>
              <a:cxnLst/>
              <a:rect r="r" b="b" t="t" l="l"/>
              <a:pathLst>
                <a:path h="3258751" w="6577385">
                  <a:moveTo>
                    <a:pt x="15694" y="0"/>
                  </a:moveTo>
                  <a:lnTo>
                    <a:pt x="6561690" y="0"/>
                  </a:lnTo>
                  <a:cubicBezTo>
                    <a:pt x="6565853" y="0"/>
                    <a:pt x="6569845" y="1653"/>
                    <a:pt x="6572788" y="4597"/>
                  </a:cubicBezTo>
                  <a:cubicBezTo>
                    <a:pt x="6575731" y="7540"/>
                    <a:pt x="6577385" y="11532"/>
                    <a:pt x="6577385" y="15694"/>
                  </a:cubicBezTo>
                  <a:lnTo>
                    <a:pt x="6577385" y="3243057"/>
                  </a:lnTo>
                  <a:cubicBezTo>
                    <a:pt x="6577385" y="3251725"/>
                    <a:pt x="6570358" y="3258751"/>
                    <a:pt x="6561690" y="3258751"/>
                  </a:cubicBezTo>
                  <a:lnTo>
                    <a:pt x="15694" y="3258751"/>
                  </a:lnTo>
                  <a:cubicBezTo>
                    <a:pt x="7026" y="3258751"/>
                    <a:pt x="0" y="3251725"/>
                    <a:pt x="0" y="3243057"/>
                  </a:cubicBezTo>
                  <a:lnTo>
                    <a:pt x="0" y="15694"/>
                  </a:lnTo>
                  <a:cubicBezTo>
                    <a:pt x="0" y="7026"/>
                    <a:pt x="7026" y="0"/>
                    <a:pt x="1569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77385" cy="330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284742" y="6217285"/>
            <a:ext cx="6954872" cy="304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Post-trip signal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Airp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ort-o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rigi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trips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cancelled by captain: 13.8%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Return fare within 20 min: 36.0%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Suburban dr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op-off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s: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llation: 21.0%</a:t>
            </a:r>
          </a:p>
          <a:p>
            <a:pPr algn="l" marL="949959" indent="-316653" lvl="2">
              <a:lnSpc>
                <a:spcPts val="3519"/>
              </a:lnSpc>
              <a:buFont typeface="Arial"/>
              <a:buChar char="⚬"/>
            </a:pP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Retur</a:t>
            </a:r>
            <a:r>
              <a:rPr lang="en-US" sz="2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fare within 20 min: only 16.5%</a:t>
            </a:r>
          </a:p>
          <a:p>
            <a:pPr algn="l" marL="0" indent="0" lvl="0">
              <a:lnSpc>
                <a:spcPts val="35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472636" y="116542"/>
            <a:ext cx="680583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62353" y="1106508"/>
            <a:ext cx="522639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ree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rior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ies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Supply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8976" y="2605108"/>
            <a:ext cx="407456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Fix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 onbo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rd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 f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15" y="3469475"/>
            <a:ext cx="4843133" cy="479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</a:t>
            </a:r>
          </a:p>
          <a:p>
            <a:pPr algn="l" marL="431799" indent="-215899" lvl="1">
              <a:lnSpc>
                <a:spcPts val="31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RC image </a:t>
            </a: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capture and verification experience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Target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lower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-end de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vices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ecifically</a:t>
            </a:r>
          </a:p>
          <a:p>
            <a:pPr algn="l">
              <a:lnSpc>
                <a:spcPts val="2880"/>
              </a:lnSpc>
            </a:pP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Larg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funnel lo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ss: 5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,489 cap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Strong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mage/OCR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10%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ecovery scenar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 ≈ 150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ditional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roval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>
              <a:lnSpc>
                <a:spcPts val="2880"/>
              </a:lnSpc>
            </a:pP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metric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RC → 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t-s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RC v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 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lure rate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Approval volume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30800" y="2362220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Run a targeted overnight airp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 su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pp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ly pilot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32672" y="3479000"/>
            <a:ext cx="5622153" cy="649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rget captains who can realistically serve airport demand during 21:00–03:00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Test incentives / positioning around airport trips 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return economics</a:t>
            </a:r>
          </a:p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Airport terminal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account for 85.6% of all unfulfilled requests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37,875 unfulfilled reques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occu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during 21:00–03:00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Suburban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rops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show weaker return-fare availa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ity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gher cancella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</a:t>
            </a:r>
          </a:p>
          <a:p>
            <a:pPr algn="l">
              <a:lnSpc>
                <a:spcPts val="2880"/>
              </a:lnSpc>
            </a:pP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metric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erminal ful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illment rate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Online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upply dur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target hours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ETA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Captain cancellation rate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Net incremental supply after incentive cost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7466" y="2362220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Requi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cau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evi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fore scalin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 acq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ition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paign</a:t>
            </a:r>
            <a:r>
              <a:rPr lang="en-US" b="true" sz="2400" strike="noStrike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7941" y="3718698"/>
            <a:ext cx="4843133" cy="504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Replace observational campaign evaluation w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ith randomized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holdouts</a:t>
            </a:r>
          </a:p>
          <a:p>
            <a:pPr algn="l">
              <a:lnSpc>
                <a:spcPts val="2880"/>
              </a:lnSpc>
            </a:pP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CAMP_WA_002 shows no detectable lift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timing 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confound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by approval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status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Curr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vidence does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5× scaling</a:t>
            </a:r>
          </a:p>
          <a:p>
            <a:pPr algn="l">
              <a:lnSpc>
                <a:spcPts val="2880"/>
              </a:lnSpc>
            </a:pP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metri</a:t>
            </a:r>
            <a:r>
              <a:rPr lang="en-US" b="true" sz="18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Incrementa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ignup → Approved conversion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Cost per incremental approve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tatist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ence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 lift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0" y="2097619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DAHUteKAKlE</dc:identifier>
  <dcterms:modified xsi:type="dcterms:W3CDTF">2011-08-01T06:04:30Z</dcterms:modified>
  <cp:revision>1</cp:revision>
  <dc:title>Captain Acquisition &amp; Airport Supply Analysis</dc:title>
</cp:coreProperties>
</file>